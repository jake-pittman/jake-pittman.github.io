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16708becc04fc4" /><Relationship Type="http://schemas.openxmlformats.org/officeDocument/2006/relationships/extended-properties" Target="/docProps/app.xml" Id="R2575fbaff8194ccf" /><Relationship Type="http://schemas.openxmlformats.org/officeDocument/2006/relationships/officeDocument" Target="/ppt/presentation.xml" Id="R505147a1b4af4f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8d91622f564ced"/>
  </p:sldMasterIdLst>
  <p:notesMasterIdLst>
    <p:notesMasterId xmlns:r="http://schemas.openxmlformats.org/officeDocument/2006/relationships" r:id="R4163340b90bc495e"/>
  </p:notesMasterIdLst>
  <p:sldIdLst>
    <p:sldId xmlns:r="http://schemas.openxmlformats.org/officeDocument/2006/relationships" id="256" r:id="R427ea605b0884295"/>
    <p:sldId xmlns:r="http://schemas.openxmlformats.org/officeDocument/2006/relationships" id="257" r:id="Rdcc427be6c86474e"/>
    <p:sldId xmlns:r="http://schemas.openxmlformats.org/officeDocument/2006/relationships" id="258" r:id="Rf21dc434c0e14f97"/>
    <p:sldId xmlns:r="http://schemas.openxmlformats.org/officeDocument/2006/relationships" id="259" r:id="R54aa56f07cbc4ca8"/>
    <p:sldId xmlns:r="http://schemas.openxmlformats.org/officeDocument/2006/relationships" id="260" r:id="R79382a130c6b4d43"/>
    <p:sldId xmlns:r="http://schemas.openxmlformats.org/officeDocument/2006/relationships" id="261" r:id="R3825f4d45f654fb0"/>
    <p:sldId xmlns:r="http://schemas.openxmlformats.org/officeDocument/2006/relationships" id="262" r:id="R4ba6717213854a67"/>
    <p:sldId xmlns:r="http://schemas.openxmlformats.org/officeDocument/2006/relationships" id="263" r:id="R47bea38560a44ec1"/>
    <p:sldId xmlns:r="http://schemas.openxmlformats.org/officeDocument/2006/relationships" id="264" r:id="R97b31f57069d4a58"/>
    <p:sldId xmlns:r="http://schemas.openxmlformats.org/officeDocument/2006/relationships" id="265" r:id="R0c95f8abe8fe4cae"/>
    <p:sldId xmlns:r="http://schemas.openxmlformats.org/officeDocument/2006/relationships" id="266" r:id="R1044815beb9a4106"/>
    <p:sldId xmlns:r="http://schemas.openxmlformats.org/officeDocument/2006/relationships" id="267" r:id="R714874ba973d49f5"/>
    <p:sldId xmlns:r="http://schemas.openxmlformats.org/officeDocument/2006/relationships" id="268" r:id="R61e15b41a00e4e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02d2b33e2f420b" /><Relationship Type="http://schemas.openxmlformats.org/officeDocument/2006/relationships/slideMaster" Target="/ppt/slideMasters/slideMaster1.xml" Id="R8f8d91622f564ced" /><Relationship Type="http://schemas.openxmlformats.org/officeDocument/2006/relationships/notesMaster" Target="/ppt/notesMasters/notesMaster1.xml" Id="R4163340b90bc495e" /><Relationship Type="http://schemas.openxmlformats.org/officeDocument/2006/relationships/presProps" Target="/ppt/presProps.xml" Id="Rc6580c34d1324ee9" /><Relationship Type="http://schemas.openxmlformats.org/officeDocument/2006/relationships/tableStyles" Target="/ppt/tableStyles.xml" Id="Rdef42cb2a9d94506" /><Relationship Type="http://schemas.openxmlformats.org/officeDocument/2006/relationships/slide" Target="/ppt/slides/slide1.xml" Id="R427ea605b0884295" /><Relationship Type="http://schemas.openxmlformats.org/officeDocument/2006/relationships/slide" Target="/ppt/slides/slide2.xml" Id="Rdcc427be6c86474e" /><Relationship Type="http://schemas.openxmlformats.org/officeDocument/2006/relationships/slide" Target="/ppt/slides/slide3.xml" Id="Rf21dc434c0e14f97" /><Relationship Type="http://schemas.openxmlformats.org/officeDocument/2006/relationships/slide" Target="/ppt/slides/slide4.xml" Id="R54aa56f07cbc4ca8" /><Relationship Type="http://schemas.openxmlformats.org/officeDocument/2006/relationships/slide" Target="/ppt/slides/slide5.xml" Id="R79382a130c6b4d43" /><Relationship Type="http://schemas.openxmlformats.org/officeDocument/2006/relationships/slide" Target="/ppt/slides/slide6.xml" Id="R3825f4d45f654fb0" /><Relationship Type="http://schemas.openxmlformats.org/officeDocument/2006/relationships/slide" Target="/ppt/slides/slide7.xml" Id="R4ba6717213854a67" /><Relationship Type="http://schemas.openxmlformats.org/officeDocument/2006/relationships/slide" Target="/ppt/slides/slide8.xml" Id="R47bea38560a44ec1" /><Relationship Type="http://schemas.openxmlformats.org/officeDocument/2006/relationships/slide" Target="/ppt/slides/slide9.xml" Id="R97b31f57069d4a58" /><Relationship Type="http://schemas.openxmlformats.org/officeDocument/2006/relationships/slide" Target="/ppt/slides/slide10.xml" Id="R0c95f8abe8fe4cae" /><Relationship Type="http://schemas.openxmlformats.org/officeDocument/2006/relationships/slide" Target="/ppt/slides/slide11.xml" Id="R1044815beb9a4106" /><Relationship Type="http://schemas.openxmlformats.org/officeDocument/2006/relationships/slide" Target="/ppt/slides/slide12.xml" Id="R714874ba973d49f5" /><Relationship Type="http://schemas.openxmlformats.org/officeDocument/2006/relationships/slide" Target="/ppt/slides/slide13.xml" Id="R61e15b41a00e4e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8ed3e841a64b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2965a67d0144f7" /><Relationship Type="http://schemas.openxmlformats.org/officeDocument/2006/relationships/notesMaster" Target="/ppt/notesMasters/notesMaster1.xml" Id="Re5bb43bd8f674e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d12d18570342ce" /><Relationship Type="http://schemas.openxmlformats.org/officeDocument/2006/relationships/notesMaster" Target="/ppt/notesMasters/notesMaster1.xml" Id="R48c4cf4c20064d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228991b8264c5a" /><Relationship Type="http://schemas.openxmlformats.org/officeDocument/2006/relationships/notesMaster" Target="/ppt/notesMasters/notesMaster1.xml" Id="Rdb89bc0597a44f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d6692f05ce475a" /><Relationship Type="http://schemas.openxmlformats.org/officeDocument/2006/relationships/notesMaster" Target="/ppt/notesMasters/notesMaster1.xml" Id="R7a8cfa5bd87c41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713c3b24254436" /><Relationship Type="http://schemas.openxmlformats.org/officeDocument/2006/relationships/notesMaster" Target="/ppt/notesMasters/notesMaster1.xml" Id="R8a8c407f7b6941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38297419a94846" /><Relationship Type="http://schemas.openxmlformats.org/officeDocument/2006/relationships/notesMaster" Target="/ppt/notesMasters/notesMaster1.xml" Id="Rf7d3ee3bae0d47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a99d4ecee940e4" /><Relationship Type="http://schemas.openxmlformats.org/officeDocument/2006/relationships/notesMaster" Target="/ppt/notesMasters/notesMaster1.xml" Id="Rafee2913683f45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45b5dff9374294" /><Relationship Type="http://schemas.openxmlformats.org/officeDocument/2006/relationships/notesMaster" Target="/ppt/notesMasters/notesMaster1.xml" Id="R685c5ef0316a4d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8c9c2d224a4279" /><Relationship Type="http://schemas.openxmlformats.org/officeDocument/2006/relationships/notesMaster" Target="/ppt/notesMasters/notesMaster1.xml" Id="R7945f635595b47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97f8cb65f04959" /><Relationship Type="http://schemas.openxmlformats.org/officeDocument/2006/relationships/notesMaster" Target="/ppt/notesMasters/notesMaster1.xml" Id="R7edf5b67c7804d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2ca552166d420e" /><Relationship Type="http://schemas.openxmlformats.org/officeDocument/2006/relationships/notesMaster" Target="/ppt/notesMasters/notesMaster1.xml" Id="R634c95837b314d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2906e4a447434d" /><Relationship Type="http://schemas.openxmlformats.org/officeDocument/2006/relationships/notesMaster" Target="/ppt/notesMasters/notesMaster1.xml" Id="R5ba0179d5e8046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37398dd053499a" /><Relationship Type="http://schemas.openxmlformats.org/officeDocument/2006/relationships/notesMaster" Target="/ppt/notesMasters/notesMaster1.xml" Id="R85a5ed25b3a54b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thesis: Fluids is not guessing at wellness SKUs; the model discovers the product family from bloodwork.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NHANES product run, July 2026</a:t>
            </a:r>
          </a:p>
          <a:p xmlns:a="http://schemas.openxmlformats.org/drawingml/2006/main">
            <a:r>
              <a:t>- Internal population pitch insights, July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problem simple: bloodwork has become available, but product behavior has not caught up.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Fluids product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defines the core abstraction: labs do not equal a SKU; labs produce a vector.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decision layer, July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homepage menu and lab upload as the same product system, not separate products.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 backend/UI: /Users/jake.pittman/Desktop/Nutrition Science - FLUIDS/nhanes_engine/local_app.py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credibility slide: the model was tested as an app workflow, not just a notebook.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NHANES product run, July 2026</a:t>
            </a:r>
          </a:p>
          <a:p xmlns:a="http://schemas.openxmlformats.org/drawingml/2006/main">
            <a:r>
              <a:t>- Internal population pitch insights, July 2026</a:t>
            </a:r>
          </a:p>
          <a:p xmlns:a="http://schemas.openxmlformats.org/drawingml/2006/main">
            <a:r>
              <a:t>- Blend genome visual from internal population pitch insights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NHANES proof slide. Say product families, function lanes, and modeled recommendation.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archetype summary, July 2026</a:t>
            </a:r>
          </a:p>
          <a:p xmlns:a="http://schemas.openxmlformats.org/drawingml/2006/main">
            <a:r>
              <a:t>- Population bar visual from internal population pitch insights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timing slide retained from the investor deck with source links verified July 27, 2026.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Global Wellness Institute 2025 monitor: https://globalwellnessinstitute.org/industry-research/2025-global-wellness-economy-monitor/</a:t>
            </a:r>
          </a:p>
          <a:p xmlns:a="http://schemas.openxmlformats.org/drawingml/2006/main">
            <a:r>
              <a:t>- McKinsey Future of Wellness 2024: https://www.mckinsey.com/industries/consumer-packaged-goods/our-insights/the-trends-defining-the-1-point-8-trillion-dollar-global-wellness-market-in-2024</a:t>
            </a:r>
          </a:p>
          <a:p xmlns:a="http://schemas.openxmlformats.org/drawingml/2006/main">
            <a:r>
              <a:t>- CDC/NCHS Data Brief 561, May 2026: https://www.cdc.gov/nchs/products/databriefs/db561.htm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model point: standards reduce customer confusion; custom preserves personalization and premium price.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decision layer, July 2026</a:t>
            </a:r>
          </a:p>
          <a:p xmlns:a="http://schemas.openxmlformats.org/drawingml/2006/main">
            <a:r>
              <a:t>- Internal standard-blend architecture comparison, July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moat is not only uploaded labs. It is the data structure around formulation decisions and response.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NHANES product run, July 2026</a:t>
            </a:r>
          </a:p>
          <a:p xmlns:a="http://schemas.openxmlformats.org/drawingml/2006/main">
            <a:r>
              <a:t>- Internal archetype summary, July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GTM point: the app now has both an easy homepage menu and a personalized demo moment.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Fluids GTM planning.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language stays careful: modeled direction and measured signal, not treatment claims.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Fluids pilot planning.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of funds remains directional and investor-discussion level.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Fluids operating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strongest claim: Fluids does not guess its product families; the model discovers them.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NHANES product run, July 2026</a:t>
            </a:r>
          </a:p>
          <a:p xmlns:a="http://schemas.openxmlformats.org/drawingml/2006/main">
            <a:r>
              <a:t>- Internal population pitch insights, July 2026</a:t>
            </a:r>
          </a:p>
          <a:p xmlns:a="http://schemas.openxmlformats.org/drawingml/2006/main">
            <a:r>
              <a:t>- Internal standard-blend architecture comparison, July 2026</a:t>
            </a:r>
          </a:p>
          <a:p xmlns:a="http://schemas.openxmlformats.org/drawingml/2006/main">
            <a:r>
              <a:t>- Global Wellness Institute: https://globalwellnessinstitute.org/industry-research/2025-global-wellness-economy-monitor/</a:t>
            </a:r>
          </a:p>
          <a:p xmlns:a="http://schemas.openxmlformats.org/drawingml/2006/main">
            <a:r>
              <a:t>- McKinsey: https://www.mckinsey.com/industries/consumer-packaged-goods/our-insights/the-trends-defining-the-1-point-8-trillion-dollar-global-wellness-market-in-2024</a:t>
            </a:r>
          </a:p>
          <a:p xmlns:a="http://schemas.openxmlformats.org/drawingml/2006/main">
            <a:r>
              <a:t>- CDC/NCHS: https://www.cdc.gov/nchs/products/databriefs/db561.htm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874422c7140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03405c5f6345d3" /><Relationship Type="http://schemas.openxmlformats.org/officeDocument/2006/relationships/slideLayout" Target="/ppt/slideLayouts/slideLayout1.xml" Id="R53eeb00c704046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eeb00c704046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82e3eec3e4d31" /><Relationship Type="http://schemas.openxmlformats.org/officeDocument/2006/relationships/image" Target="/ppt/media/image.png" Id="R4e8985290f90489a" /><Relationship Type="http://schemas.openxmlformats.org/officeDocument/2006/relationships/image" Target="/ppt/media/image2.png" Id="R8685a6b4c9d44a29" /><Relationship Type="http://schemas.openxmlformats.org/officeDocument/2006/relationships/notesSlide" Target="/ppt/notesSlides/notesSlide1.xml" Id="R876c5b4aba6440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85cad4d5b4cc4" /><Relationship Type="http://schemas.openxmlformats.org/officeDocument/2006/relationships/image" Target="/ppt/media/image3.png" Id="R1565d8fb5a204102" /><Relationship Type="http://schemas.openxmlformats.org/officeDocument/2006/relationships/notesSlide" Target="/ppt/notesSlides/notesSlide2.xml" Id="R35655c3b6742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78b4afd384ab8" /><Relationship Type="http://schemas.openxmlformats.org/officeDocument/2006/relationships/image" Target="/ppt/media/image4.png" Id="Rddcdc416d8934aec" /><Relationship Type="http://schemas.openxmlformats.org/officeDocument/2006/relationships/image" Target="/ppt/media/image5.png" Id="Rac7124834a6f4fa9" /><Relationship Type="http://schemas.openxmlformats.org/officeDocument/2006/relationships/notesSlide" Target="/ppt/notesSlides/notesSlide3.xml" Id="R33009a894b174a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a30489da54d68" /><Relationship Type="http://schemas.openxmlformats.org/officeDocument/2006/relationships/image" Target="/ppt/media/image6.png" Id="R09a9d6a99721471c" /><Relationship Type="http://schemas.openxmlformats.org/officeDocument/2006/relationships/image" Target="/ppt/media/image7.png" Id="R4d2bcace6bcb47a1" /><Relationship Type="http://schemas.openxmlformats.org/officeDocument/2006/relationships/notesSlide" Target="/ppt/notesSlides/notesSlide4.xml" Id="R9464e49ee5ff4d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f3a5b5ab14420" /><Relationship Type="http://schemas.openxmlformats.org/officeDocument/2006/relationships/image" Target="/ppt/media/image8.png" Id="R7bb4830fdf184d9b" /><Relationship Type="http://schemas.openxmlformats.org/officeDocument/2006/relationships/image" Target="/ppt/media/image9.png" Id="R979172a01ae14109" /><Relationship Type="http://schemas.openxmlformats.org/officeDocument/2006/relationships/notesSlide" Target="/ppt/notesSlides/notesSlide5.xml" Id="R021e653dbebd42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ef92e314848b2" /><Relationship Type="http://schemas.openxmlformats.org/officeDocument/2006/relationships/image" Target="/ppt/media/image10.png" Id="R4aa95981310c4dbb" /><Relationship Type="http://schemas.openxmlformats.org/officeDocument/2006/relationships/image" Target="/ppt/media/image11.png" Id="R70c4f739625a4a85" /><Relationship Type="http://schemas.openxmlformats.org/officeDocument/2006/relationships/image" Target="/ppt/media/image12.png" Id="R40fc63b227c54712" /><Relationship Type="http://schemas.openxmlformats.org/officeDocument/2006/relationships/notesSlide" Target="/ppt/notesSlides/notesSlide6.xml" Id="Ra32ea34b5c7a4a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0ad0fb1534d27" /><Relationship Type="http://schemas.openxmlformats.org/officeDocument/2006/relationships/image" Target="/ppt/media/image13.png" Id="R28756339445f4165" /><Relationship Type="http://schemas.openxmlformats.org/officeDocument/2006/relationships/image" Target="/ppt/media/image14.png" Id="R5fc5cf50b00e45ce" /><Relationship Type="http://schemas.openxmlformats.org/officeDocument/2006/relationships/notesSlide" Target="/ppt/notesSlides/notesSlide7.xml" Id="Rbceeb5ca528843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ff23be8304a4e" /><Relationship Type="http://schemas.openxmlformats.org/officeDocument/2006/relationships/image" Target="/ppt/media/image15.png" Id="Rb1bf16cfa8a74fa4" /><Relationship Type="http://schemas.openxmlformats.org/officeDocument/2006/relationships/notesSlide" Target="/ppt/notesSlides/notesSlide8.xml" Id="R7f95a79232b047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3ef82c0e04a52" /><Relationship Type="http://schemas.openxmlformats.org/officeDocument/2006/relationships/image" Target="/ppt/media/image16.png" Id="Rc768c1b250464974" /><Relationship Type="http://schemas.openxmlformats.org/officeDocument/2006/relationships/notesSlide" Target="/ppt/notesSlides/notesSlide9.xml" Id="R28cdd15fe64d43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7ba793a1d430a" /><Relationship Type="http://schemas.openxmlformats.org/officeDocument/2006/relationships/image" Target="/ppt/media/image17.png" Id="R5e003a4b655e48f3" /><Relationship Type="http://schemas.openxmlformats.org/officeDocument/2006/relationships/image" Target="/ppt/media/image18.png" Id="Re534d3dbd0704cda" /><Relationship Type="http://schemas.openxmlformats.org/officeDocument/2006/relationships/notesSlide" Target="/ppt/notesSlides/notesSlide10.xml" Id="Raa1cb4c0f57044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9d6ba6ea1498b" /><Relationship Type="http://schemas.openxmlformats.org/officeDocument/2006/relationships/image" Target="/ppt/media/image19.png" Id="R17f04309bb5c4a0f" /><Relationship Type="http://schemas.openxmlformats.org/officeDocument/2006/relationships/notesSlide" Target="/ppt/notesSlides/notesSlide11.xml" Id="R83bcb39500d144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e23bbe90f4b1c" /><Relationship Type="http://schemas.openxmlformats.org/officeDocument/2006/relationships/image" Target="/ppt/media/image20.png" Id="Rc166d64bf16b4f45" /><Relationship Type="http://schemas.openxmlformats.org/officeDocument/2006/relationships/notesSlide" Target="/ppt/notesSlides/notesSlide12.xml" Id="R5d3fdddfe31642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841ccd5074e9c" /><Relationship Type="http://schemas.openxmlformats.org/officeDocument/2006/relationships/image" Target="/ppt/media/image21.png" Id="R3744c3c993e049a5" /><Relationship Type="http://schemas.openxmlformats.org/officeDocument/2006/relationships/image" Target="/ppt/media/image22.png" Id="Rff7067d714f4446c" /><Relationship Type="http://schemas.openxmlformats.org/officeDocument/2006/relationships/notesSlide" Target="/ppt/notesSlides/notesSlide13.xml" Id="Rca67a533545a4e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985290f90489a"/>
          <a:stretch xmlns:a="http://schemas.openxmlformats.org/drawingml/2006/main"/>
        </p:blipFill>
        <p:spPr>
          <a:xfrm xmlns:a="http://schemas.openxmlformats.org/drawingml/2006/main">
            <a:off x="5810250" y="1534990"/>
            <a:ext cx="5334000" cy="3692769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5a6b4c9d44a29"/>
          <a:stretch xmlns:a="http://schemas.openxmlformats.org/drawingml/2006/main"/>
        </p:blipFill>
        <p:spPr>
          <a:xfrm xmlns:a="http://schemas.openxmlformats.org/drawingml/2006/main">
            <a:off x="628650" y="518319"/>
            <a:ext cx="1619250" cy="62071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94645-D7FF-4438-B1FA-2A290A39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PRE-SEED INVESTOR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7BFAD-0EFB-4462-A7B3-B5882B82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5715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725" b="0" i="0">
                <a:solidFill>
                  <a:srgbClr val="0D1B2A"/>
                </a:solidFill>
                <a:latin typeface="Didot"/>
                <a:ea typeface="Didot"/>
                <a:cs typeface="Didot"/>
              </a:defRPr>
            </a:pPr>
            <a:r>
              <a:rPr sz="4725" b="0" i="0">
                <a:solidFill>
                  <a:srgbClr val="0D1B2A"/>
                </a:solidFill>
                <a:latin typeface="Didot"/>
                <a:ea typeface="Didot"/>
                <a:cs typeface="Didot"/>
              </a:rPr>
              <a:t>The product family hiding inside bloodwork.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9F368-779D-4E7A-8F61-841CE0AC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5381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87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Fluids ran our model across NHANES to turn routine labs into nutrient vectors, standard function blends, and personalized daily drink mixes.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749FD-AA1B-4550-BF64-4E6BEFA3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2905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D1B2A"/>
                </a:solidFill>
                <a:latin typeface="Inter"/>
                <a:ea typeface="Inter"/>
                <a:cs typeface="Inter"/>
              </a:rPr>
              <a:t>NHANES-informed whole-food drink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936DD-CDE6-4C62-867B-CC27F200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91125"/>
            <a:ext cx="2333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DF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62B4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C62B4F"/>
                </a:solidFill>
                <a:latin typeface="Inter"/>
                <a:ea typeface="Inter"/>
                <a:cs typeface="Inter"/>
              </a:rPr>
              <a:t>Standard menu. Custom upgrade.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1F67B-424B-4FAE-9925-41524D0A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 i="0">
                <a:solidFill>
                  <a:srgbClr val="8A8176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8A8176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5912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5d8fb5a204102"/>
          <a:stretch xmlns:a="http://schemas.openxmlformats.org/drawingml/2006/main"/>
        </p:blipFill>
        <p:spPr>
          <a:xfrm xmlns:a="http://schemas.openxmlformats.org/drawingml/2006/main">
            <a:off x="591723" y="428625"/>
            <a:ext cx="1426404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04D42-0EF3-40D3-B8CE-E0CFA02E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 i="0">
                <a:solidFill>
                  <a:srgbClr val="8A8176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8A8176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F2B94-24A4-4105-B8EA-FABC2C9F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5DA3A-176C-415E-A958-326BBFF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0" i="0">
                <a:solidFill>
                  <a:srgbClr val="0D1B2A"/>
                </a:solidFill>
                <a:latin typeface="Didot"/>
                <a:ea typeface="Didot"/>
                <a:cs typeface="Didot"/>
              </a:defRPr>
            </a:pPr>
            <a:r>
              <a:rPr sz="4350" b="0" i="0">
                <a:solidFill>
                  <a:srgbClr val="0D1B2A"/>
                </a:solidFill>
                <a:latin typeface="Didot"/>
                <a:ea typeface="Didot"/>
                <a:cs typeface="Didot"/>
              </a:rPr>
              <a:t>Health data has outpaced nutrition.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87292-9FCE-4D7D-BDB9-D2BD85C7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87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Consumers can measure more than ever. But after a blood test, the daily action is still generic: supplement shelves, broad advice, and products that do not reflect the person in front of them.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5647D-C7FC-4DD2-B45B-5E92A99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297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57583-F491-4748-9A09-E595E3A5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The gap is turning health signal into a product someone can understand, drink, and repeat.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874DC-D465-48CE-96A1-23025DCD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04950"/>
            <a:ext cx="38100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280CC-009A-42D5-B570-E6A6D8C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Current consumer journey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3E515-C248-41F0-A776-2322D19E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2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E54F6-2217-4C85-9CAA-AA1D4A08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9CEB5-8FC4-45DC-9FC1-3ECD44D2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2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Bloodwork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47097-BEAD-4587-A514-4D15927B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high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B0F16-81FC-4B1B-9848-29643DC9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8605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DED3C4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DED3C4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06935-2878-4AD8-977C-FD9E347D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7AB73-3D93-438F-B241-55573E8B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67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CF93A-1AA5-40E5-8200-40FE7995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71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F0D76-8313-4177-B19A-B8F1C8A5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194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low actionability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C163A-4D3E-4EE3-A3D4-3500B078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3375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DED3C4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DED3C4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50BDB-4826-470B-A572-7DADF3B9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38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901A6-E402-4525-BFC1-1387B261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B6B20-87DC-41DD-9A46-A8C50ECE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19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Supplements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590D9E-3598-461F-9D2C-4853357B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671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generic choice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B5CFA3-9679-4F15-A745-155B888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8145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DED3C4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DED3C4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48775-3EF0-4FB3-8F1F-F7CBA601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6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EB8CD6-B71D-4B5B-A272-1BDC1A00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62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8DA8B1-772C-41D9-B095-358BB422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67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963D6-2D7B-4963-80E3-5F5EB7E6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148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low adherence</a:t>
            </a:r>
          </a:p>
        </p:txBody>
      </p:sp>
    </p:spTree>
    <p:extLst>
      <p:ext uri="{BB962C8B-B14F-4D97-AF65-F5344CB8AC3E}">
        <p14:creationId xmlns:p14="http://schemas.microsoft.com/office/powerpoint/2010/main" val="4550596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dc416d8934aec"/>
          <a:stretch xmlns:a="http://schemas.openxmlformats.org/drawingml/2006/main"/>
        </p:blipFill>
        <p:spPr>
          <a:xfrm xmlns:a="http://schemas.openxmlformats.org/drawingml/2006/main">
            <a:off x="591723" y="428625"/>
            <a:ext cx="1426404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A2D17-132D-4839-A88F-58CA9A47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 i="0">
                <a:solidFill>
                  <a:srgbClr val="A9BEC3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A9BEC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9101C-4D68-4747-A345-F8AAFABF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2BE37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F2BE37"/>
                </a:solidFill>
                <a:latin typeface="Inter"/>
                <a:ea typeface="Inter"/>
                <a:cs typeface="Inter"/>
              </a:rPr>
              <a:t>CORE INSIGHT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7D4E1-7219-45FE-BDD3-11EE53B3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0" i="0">
                <a:solidFill>
                  <a:srgbClr val="FFFFFF"/>
                </a:solidFill>
                <a:latin typeface="Didot"/>
                <a:ea typeface="Didot"/>
                <a:cs typeface="Didot"/>
              </a:defRPr>
            </a:pPr>
            <a:r>
              <a:rPr sz="4350" b="0" i="0">
                <a:solidFill>
                  <a:srgbClr val="FFFFFF"/>
                </a:solidFill>
                <a:latin typeface="Didot"/>
                <a:ea typeface="Didot"/>
                <a:cs typeface="Didot"/>
              </a:rPr>
              <a:t>The nutrient vector is the interface.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CD1DD-992B-4AD1-A4A6-A38E9FE7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581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EAF1EF"/>
                </a:solidFill>
                <a:latin typeface="Inter"/>
                <a:ea typeface="Inter"/>
                <a:cs typeface="Inter"/>
              </a:defRPr>
            </a:pPr>
            <a:r>
              <a:rPr sz="1875" b="0" i="0">
                <a:solidFill>
                  <a:srgbClr val="EAF1EF"/>
                </a:solidFill>
                <a:latin typeface="Inter"/>
                <a:ea typeface="Inter"/>
                <a:cs typeface="Inter"/>
              </a:rPr>
              <a:t>A blood test should not map straight to a pill shelf. It should map to a nutrient direction, then to a product-realistic formula that can be made and used daily.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737FE-5F2B-4132-9D9B-55251BDC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5476875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2B3A"/>
          </a:solidFill>
          <a:ln xmlns:a="http://schemas.openxmlformats.org/drawingml/2006/main" w="9525">
            <a:solidFill>
              <a:srgbClr val="254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A51D5-F7BE-470F-9C81-497E1860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91125"/>
            <a:ext cx="500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F2BE37"/>
                </a:solidFill>
                <a:latin typeface="Inter"/>
                <a:ea typeface="Inter"/>
                <a:cs typeface="Inter"/>
              </a:defRPr>
            </a:pPr>
            <a:r>
              <a:rPr sz="1800" b="1" i="0">
                <a:solidFill>
                  <a:srgbClr val="F2BE37"/>
                </a:solidFill>
                <a:latin typeface="Inter"/>
                <a:ea typeface="Inter"/>
                <a:cs typeface="Inter"/>
              </a:rPr>
              <a:t>Biomarkers -&gt; nutrient vector -&gt; standard or custom blend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124834a6f4fa9"/>
          <a:stretch xmlns:a="http://schemas.openxmlformats.org/drawingml/2006/main"/>
        </p:blipFill>
        <p:spPr>
          <a:xfrm xmlns:a="http://schemas.openxmlformats.org/drawingml/2006/main">
            <a:off x="7239000" y="1000125"/>
            <a:ext cx="3381375" cy="3381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F5BD5-04BF-4BC3-B527-84DB1134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67250"/>
            <a:ext cx="366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D2E0E1"/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D2E0E1"/>
                </a:solidFill>
                <a:latin typeface="Inter"/>
                <a:ea typeface="Inter"/>
                <a:cs typeface="Inter"/>
              </a:rPr>
              <a:t>The model translates messy biomarker inputs into a formulation target that a consumer can actually act on.</a:t>
            </a:r>
          </a:p>
        </p:txBody>
      </p:sp>
    </p:spTree>
    <p:extLst>
      <p:ext uri="{BB962C8B-B14F-4D97-AF65-F5344CB8AC3E}">
        <p14:creationId xmlns:p14="http://schemas.microsoft.com/office/powerpoint/2010/main" val="1614659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9d6a99721471c"/>
          <a:stretch xmlns:a="http://schemas.openxmlformats.org/drawingml/2006/main"/>
        </p:blipFill>
        <p:spPr>
          <a:xfrm xmlns:a="http://schemas.openxmlformats.org/drawingml/2006/main">
            <a:off x="591723" y="428625"/>
            <a:ext cx="1426404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4E10C-9106-41DF-B4BE-CD9FCAC4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 i="0">
                <a:solidFill>
                  <a:srgbClr val="8A8176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8A8176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3423D-5403-400E-8068-43532351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5511F-F3DC-43A3-9EB0-BA2F2A62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75" b="0" i="0">
                <a:solidFill>
                  <a:srgbClr val="0D1B2A"/>
                </a:solidFill>
                <a:latin typeface="Didot"/>
                <a:ea typeface="Didot"/>
                <a:cs typeface="Didot"/>
              </a:defRPr>
            </a:pPr>
            <a:r>
              <a:rPr sz="4275" b="0" i="0">
                <a:solidFill>
                  <a:srgbClr val="0D1B2A"/>
                </a:solidFill>
                <a:latin typeface="Didot"/>
                <a:ea typeface="Didot"/>
                <a:cs typeface="Didot"/>
              </a:rPr>
              <a:t>Menu first. Custom with labs.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57A8F-1AD0-4D33-9B43-83B24C49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81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80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Fluids starts with an eight-blend function menu, then uses bloodwork to generate a personalized blend when someone wants the full custom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5A026-476A-490B-8979-3FE56051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E49C0-74D5-4D5B-A6EC-30EC7093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9CF36-DFDD-4146-9252-293D80DD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72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Measure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0C2BC-E937-4CDA-8E5A-5DFF8501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482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Standard function menu or lab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8819C-5C75-4D2A-8A6F-C9FEDD24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5775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84B72-B55E-4D8A-94F9-D2FD8DC6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292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361C4-B41D-4C9A-B164-17E791E9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72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A21CD-C28E-458D-8B2F-EBAF929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482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Our model finds a nutrient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E8F36-E24A-47C3-A15E-74C27FEB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DFE5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445F3-AD28-440A-AB28-4CD04F55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292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62B4F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C62B4F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55481-076E-4F66-A5C8-1F5F446A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72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Drink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CC568-3D9D-4270-BEA6-3AAEFD46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482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Daily powder blend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57EB2-513B-4EC0-BBEF-80CDFB41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5775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F54CD-3A03-45F5-A322-1007261A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292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F767D-1F17-417E-8E28-32BB417C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72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Learn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42D3A-2A93-4FA3-B148-5B70DBB3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482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Retest improves the next recommendation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bcace6bcb47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1352550"/>
            <a:ext cx="3190875" cy="3190875"/>
          </a:xfrm>
          <a:prstGeom xmlns:a="http://schemas.openxmlformats.org/drawingml/2006/main" prst="roundRect">
            <a:avLst>
              <a:gd name="adj" fmla="val 7164"/>
            </a:avLst>
          </a:prstGeom>
        </p:spPr>
      </p:pic>
    </p:spTree>
    <p:extLst>
      <p:ext uri="{BB962C8B-B14F-4D97-AF65-F5344CB8AC3E}">
        <p14:creationId xmlns:p14="http://schemas.microsoft.com/office/powerpoint/2010/main" val="16055742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4830fdf184d9b"/>
          <a:stretch xmlns:a="http://schemas.openxmlformats.org/drawingml/2006/main"/>
        </p:blipFill>
        <p:spPr>
          <a:xfrm xmlns:a="http://schemas.openxmlformats.org/drawingml/2006/main">
            <a:off x="591723" y="428625"/>
            <a:ext cx="1426404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22891-2FFA-437B-9790-CAFD2A90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 i="0">
                <a:solidFill>
                  <a:srgbClr val="8A8176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8A8176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CD6EE-CEE7-4699-A8D6-301D15AF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DAA3A-53A1-43E4-9F67-C2037751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7239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0" i="0">
                <a:solidFill>
                  <a:srgbClr val="0D1B2A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0D1B2A"/>
                </a:solidFill>
                <a:latin typeface="Didot"/>
                <a:ea typeface="Didot"/>
                <a:cs typeface="Didot"/>
              </a:rPr>
              <a:t>We tested the engine as a real product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3DAE8-F0F3-40C9-9A20-33027752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8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The first product is a drink mix. The bigger asset is the loop from labs to formula vectors.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E68AD-D223-483B-9874-C93B97FA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4003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D5E1E1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FCD9B-6708-439C-AE06-AD619D0D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Population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09CB9-91F8-4EED-B58A-9DF09A2A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16,936 NHANES participants ran through the same product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DE1FC-9AC9-478B-A940-ED2C5A4B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95750"/>
            <a:ext cx="24003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7DFE5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D5237-B697-4984-A559-97D0A61A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05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Makeable formulas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92483-BE05-45BB-98D8-28AB40C6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4820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Every blend stays inside real fruit, vegetable, mineral, and juice powder rails.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63E22-A8DE-49B6-AF8B-B7ED02F7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24003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2CA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58819-17B2-4311-B4A5-DDC8DA0F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Our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C579B-E891-49EE-8A15-6F784E5F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4820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The model ranks nutrient directions and chooses the best blend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F4570-37C9-402D-B5DE-0DB0D717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24003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8EFD9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6F356-668D-4149-A452-C9A9985D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05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One product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9699B-1721-4EF2-A394-0CCC58DD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4820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The standard menu and custom blends now use the same formula logic.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172a01ae14109"/>
          <a:stretch xmlns:a="http://schemas.openxmlformats.org/drawingml/2006/main"/>
        </p:blipFill>
        <p:spPr>
          <a:xfrm xmlns:a="http://schemas.openxmlformats.org/drawingml/2006/main">
            <a:off x="8243584" y="1117865"/>
            <a:ext cx="2658083" cy="20505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280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95981310c4dbb"/>
          <a:stretch xmlns:a="http://schemas.openxmlformats.org/drawingml/2006/main"/>
        </p:blipFill>
        <p:spPr>
          <a:xfrm xmlns:a="http://schemas.openxmlformats.org/drawingml/2006/main">
            <a:off x="591723" y="428625"/>
            <a:ext cx="1426404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2FC2B-329D-489C-AA3C-BEEECF1C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 i="0">
                <a:solidFill>
                  <a:srgbClr val="8A8176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8A8176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9A9D4-3599-486F-9156-CA4CDC96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NHANES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294FB-9A81-4730-A641-1EDF7FA8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572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0" i="0">
                <a:solidFill>
                  <a:srgbClr val="0D1B2A"/>
                </a:solidFill>
                <a:latin typeface="Didot"/>
                <a:ea typeface="Didot"/>
                <a:cs typeface="Didot"/>
              </a:defRPr>
            </a:pPr>
            <a:r>
              <a:rPr sz="3675" b="0" i="0">
                <a:solidFill>
                  <a:srgbClr val="0D1B2A"/>
                </a:solidFill>
                <a:latin typeface="Didot"/>
                <a:ea typeface="Didot"/>
                <a:cs typeface="Didot"/>
              </a:rPr>
              <a:t>The model discovered recurring product families.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8993A-5CC9-4D9D-8BB1-5E77F11D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81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80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Running the app across NHANES produced 16,406 successful personalized formulas that clustered into stable standard function lanes.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80B8F-3E1B-4344-9A32-F0449531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900" b="0" i="0">
                <a:solidFill>
                  <a:srgbClr val="C62B4F"/>
                </a:solidFill>
                <a:latin typeface="Didot"/>
                <a:ea typeface="Didot"/>
                <a:cs typeface="Didot"/>
              </a:defRPr>
            </a:pPr>
            <a:r>
              <a:rPr sz="3900" b="0" i="0">
                <a:solidFill>
                  <a:srgbClr val="C62B4F"/>
                </a:solidFill>
                <a:latin typeface="Didot"/>
                <a:ea typeface="Didot"/>
                <a:cs typeface="Didot"/>
              </a:rPr>
              <a:t>16,406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5898A-A20D-4E36-A121-BE15C722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successful custom formulas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BE9D0-2841-44B7-96A2-8E6272E5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86300"/>
            <a:ext cx="225266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D7221-1634-4301-B2F8-88F016B0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62500"/>
            <a:ext cx="21383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8 stable product families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97C6D-D968-426B-8CC0-EC4C7AE4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413" y="4686300"/>
            <a:ext cx="102393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57E84-95CD-49B0-83B2-8A6BA2C1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4762500"/>
            <a:ext cx="90963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First five cover 73.4%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A4A12-5930-442D-B0E9-82F73137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86300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0D61B-B8B9-4ABD-AA9D-CF0BA0E2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8-blend fit 92.3%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4f739625a4a85"/>
          <a:stretch xmlns:a="http://schemas.openxmlformats.org/drawingml/2006/main"/>
        </p:blipFill>
        <p:spPr>
          <a:xfrm xmlns:a="http://schemas.openxmlformats.org/drawingml/2006/main">
            <a:off x="7485063" y="1485900"/>
            <a:ext cx="3175000" cy="2381250"/>
          </a:xfrm>
          <a:prstGeom xmlns:a="http://schemas.openxmlformats.org/drawingml/2006/main" prst="round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c63b227c54712"/>
          <a:stretch xmlns:a="http://schemas.openxmlformats.org/drawingml/2006/main"/>
        </p:blipFill>
        <p:spPr>
          <a:xfrm xmlns:a="http://schemas.openxmlformats.org/drawingml/2006/main">
            <a:off x="9667875" y="3735586"/>
            <a:ext cx="904875" cy="2149078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5C173-1CFB-453E-A21A-3D8448C3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1">
                <a:solidFill>
                  <a:srgbClr val="8A8176"/>
                </a:solidFill>
                <a:latin typeface="Inter"/>
                <a:ea typeface="Inter"/>
                <a:cs typeface="Inter"/>
              </a:defRPr>
            </a:pPr>
            <a:r>
              <a:rPr sz="825" b="0" i="1">
                <a:solidFill>
                  <a:srgbClr val="8A8176"/>
                </a:solidFill>
                <a:latin typeface="Inter"/>
                <a:ea typeface="Inter"/>
                <a:cs typeface="Inter"/>
              </a:rPr>
              <a:t>Internal model output; recommendations are modeled nutrition directions, not clinical efficacy claims.</a:t>
            </a:r>
          </a:p>
        </p:txBody>
      </p:sp>
    </p:spTree>
    <p:extLst>
      <p:ext uri="{BB962C8B-B14F-4D97-AF65-F5344CB8AC3E}">
        <p14:creationId xmlns:p14="http://schemas.microsoft.com/office/powerpoint/2010/main" val="21299380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56339445f4165"/>
          <a:stretch xmlns:a="http://schemas.openxmlformats.org/drawingml/2006/main"/>
        </p:blipFill>
        <p:spPr>
          <a:xfrm xmlns:a="http://schemas.openxmlformats.org/drawingml/2006/main">
            <a:off x="591723" y="428625"/>
            <a:ext cx="1426404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83AE8-DBFC-4462-A94C-41E9FEF7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 i="0">
                <a:solidFill>
                  <a:srgbClr val="A9BEC3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A9BEC3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75605-3D6B-43BE-BEC7-E994F90F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2BE37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F2BE37"/>
                </a:solidFill>
                <a:latin typeface="Inter"/>
                <a:ea typeface="Inter"/>
                <a:cs typeface="Inter"/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ECC41-E4ED-48B6-8762-95E88C73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7334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0" i="0">
                <a:solidFill>
                  <a:srgbClr val="FFFFFF"/>
                </a:solidFill>
                <a:latin typeface="Didot"/>
                <a:ea typeface="Didot"/>
                <a:cs typeface="Didot"/>
              </a:defRPr>
            </a:pPr>
            <a:r>
              <a:rPr sz="3675" b="0" i="0">
                <a:solidFill>
                  <a:srgbClr val="FFFFFF"/>
                </a:solidFill>
                <a:latin typeface="Didot"/>
                <a:ea typeface="Didot"/>
                <a:cs typeface="Didot"/>
              </a:rPr>
              <a:t>Consumers want science-backed wellness they can actually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1BC05-9FED-486B-A277-4EF24E2C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EAF1EF"/>
                </a:solidFill>
                <a:latin typeface="Inter"/>
                <a:ea typeface="Inter"/>
                <a:cs typeface="Inter"/>
              </a:defRPr>
            </a:pPr>
            <a:r>
              <a:rPr sz="1725" b="0" i="0">
                <a:solidFill>
                  <a:srgbClr val="EAF1EF"/>
                </a:solidFill>
                <a:latin typeface="Inter"/>
                <a:ea typeface="Inter"/>
                <a:cs typeface="Inter"/>
              </a:rPr>
              <a:t>At-home labs, wearables, longevity culture, and supplement fatigue are converging around one expectation: personalized recommendations should become simple daily routines.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18D47-6423-4AD2-B5E5-27292E0B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900" b="0" i="0">
                <a:solidFill>
                  <a:srgbClr val="F2BE37"/>
                </a:solidFill>
                <a:latin typeface="Didot"/>
                <a:ea typeface="Didot"/>
                <a:cs typeface="Didot"/>
              </a:defRPr>
            </a:pPr>
            <a:r>
              <a:rPr sz="3900" b="0" i="0">
                <a:solidFill>
                  <a:srgbClr val="F2BE37"/>
                </a:solidFill>
                <a:latin typeface="Didot"/>
                <a:ea typeface="Didot"/>
                <a:cs typeface="Didot"/>
              </a:rPr>
              <a:t>$6.8T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B8050-AD07-4755-81D5-ADD9E348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BFD0D2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BFD0D2"/>
                </a:solidFill>
                <a:latin typeface="Inter"/>
                <a:ea typeface="Inter"/>
                <a:cs typeface="Inter"/>
              </a:rPr>
              <a:t>global wellness economy in 2024; forecast near $9.8T by 2029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55901-7A9F-4484-A117-E579DA96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196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900" b="0" i="0">
                <a:solidFill>
                  <a:srgbClr val="D5E1E1"/>
                </a:solidFill>
                <a:latin typeface="Didot"/>
                <a:ea typeface="Didot"/>
                <a:cs typeface="Didot"/>
              </a:defRPr>
            </a:pPr>
            <a:r>
              <a:rPr sz="3900" b="0" i="0">
                <a:solidFill>
                  <a:srgbClr val="D5E1E1"/>
                </a:solidFill>
                <a:latin typeface="Didot"/>
                <a:ea typeface="Didot"/>
                <a:cs typeface="Didot"/>
              </a:rPr>
              <a:t>82%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39B79-7F50-4C17-8DEC-3424B5CC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101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BFD0D2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BFD0D2"/>
                </a:solidFill>
                <a:latin typeface="Inter"/>
                <a:ea typeface="Inter"/>
                <a:cs typeface="Inter"/>
              </a:rPr>
              <a:t>of U.S. consumers consider wellness a top or important priority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58AAA-6BEF-42CA-952D-456B708A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196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900" b="0" i="0">
                <a:solidFill>
                  <a:srgbClr val="C62B4F"/>
                </a:solidFill>
                <a:latin typeface="Didot"/>
                <a:ea typeface="Didot"/>
                <a:cs typeface="Didot"/>
              </a:defRPr>
            </a:pPr>
            <a:r>
              <a:rPr sz="3900" b="0" i="0">
                <a:solidFill>
                  <a:srgbClr val="C62B4F"/>
                </a:solidFill>
                <a:latin typeface="Didot"/>
                <a:ea typeface="Didot"/>
                <a:cs typeface="Didot"/>
              </a:rPr>
              <a:t>60.2%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E2E3C-CA16-4585-B501-5E88A355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01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BFD0D2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BFD0D2"/>
                </a:solidFill>
                <a:latin typeface="Inter"/>
                <a:ea typeface="Inter"/>
                <a:cs typeface="Inter"/>
              </a:rPr>
              <a:t>of U.S. adults used a dietary supplement in the past 30 days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5cf50b00e45ce"/>
          <a:stretch xmlns:a="http://schemas.openxmlformats.org/drawingml/2006/main"/>
        </p:blipFill>
        <p:spPr>
          <a:xfrm xmlns:a="http://schemas.openxmlformats.org/drawingml/2006/main">
            <a:off x="8743950" y="904875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3B8FD-65BD-41DC-A6FB-A5015EDA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1">
                <a:solidFill>
                  <a:srgbClr val="8DA6AA"/>
                </a:solidFill>
                <a:latin typeface="Inter"/>
                <a:ea typeface="Inter"/>
                <a:cs typeface="Inter"/>
              </a:defRPr>
            </a:pPr>
            <a:r>
              <a:rPr sz="825" b="0" i="1">
                <a:solidFill>
                  <a:srgbClr val="8DA6AA"/>
                </a:solidFill>
                <a:latin typeface="Inter"/>
                <a:ea typeface="Inter"/>
                <a:cs typeface="Inter"/>
              </a:rPr>
              <a:t>Sources: Global Wellness Institute 2025; McKinsey Future of Wellness 2024; CDC/NCHS Data Brief 561, May 2026.</a:t>
            </a:r>
          </a:p>
        </p:txBody>
      </p:sp>
    </p:spTree>
    <p:extLst>
      <p:ext uri="{BB962C8B-B14F-4D97-AF65-F5344CB8AC3E}">
        <p14:creationId xmlns:p14="http://schemas.microsoft.com/office/powerpoint/2010/main" val="6666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f16cfa8a74fa4"/>
          <a:stretch xmlns:a="http://schemas.openxmlformats.org/drawingml/2006/main"/>
        </p:blipFill>
        <p:spPr>
          <a:xfrm xmlns:a="http://schemas.openxmlformats.org/drawingml/2006/main">
            <a:off x="591723" y="428625"/>
            <a:ext cx="1426404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22FA9-A165-4065-9676-547E4BD2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 i="0">
                <a:solidFill>
                  <a:srgbClr val="8A8176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8A8176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D84B0-5EE7-4655-8854-BA76F38B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471D4-4018-4E6A-8192-3B6CF83D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0" i="0">
                <a:solidFill>
                  <a:srgbClr val="0D1B2A"/>
                </a:solidFill>
                <a:latin typeface="Didot"/>
                <a:ea typeface="Didot"/>
                <a:cs typeface="Didot"/>
              </a:defRPr>
            </a:pPr>
            <a:r>
              <a:rPr sz="3675" b="0" i="0">
                <a:solidFill>
                  <a:srgbClr val="0D1B2A"/>
                </a:solidFill>
                <a:latin typeface="Didot"/>
                <a:ea typeface="Didot"/>
                <a:cs typeface="Didot"/>
              </a:rPr>
              <a:t>A standard menu with custom-blend upside.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E2570-C12B-4567-B641-D4423AAD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80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Standard function blends create a clear entry shelf. Lab uploads create the premium personalized product and the data loop that compounds.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1CE0A-AA34-4A22-956B-424AB769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Entry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80D06-A471-463C-9871-CF733A32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Standard 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59855-7473-42A5-8FF2-2970DD80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005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Eight function blends make the menu easy to 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14D03-BBF8-4CE8-9F0D-AAA014DD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Premium upgrade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7271A-9BF5-4500-84C2-68C735FF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67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Custom blend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A3829-4424-4075-BFAB-17C46467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958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Upload labs, generate vector, personalize formula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F7AAE-B39A-496D-BA5D-36EB88E4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Partner channel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9CF46-67BB-4070-999F-43D14FAE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62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Lower CAC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F8AC8-B4A1-451D-A39D-A667DB96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911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Labs, clinicians, coaches, wellness platforms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8322B-0703-496B-A22C-F4E273AD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Scale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999CF-243B-4B82-A43D-4FF2D30E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62B4F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C62B4F"/>
                </a:solidFill>
                <a:latin typeface="Inter"/>
                <a:ea typeface="Inter"/>
                <a:cs typeface="Inter"/>
              </a:rPr>
              <a:t>60%+ GM 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0E038-2064-47CF-87E1-5B9C4F91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864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Shared ingredient rails improve COGS as standards and custom scale together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0ECD0-D87E-4AB9-AF8E-A4725D47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000375" cy="3600450"/>
          </a:xfrm>
          <a:prstGeom xmlns:a="http://schemas.openxmlformats.org/drawingml/2006/main" prst="roundRect">
            <a:avLst>
              <a:gd name="adj" fmla="val 50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841A4-26B0-4936-83F3-2C104A16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Why the menu matters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86956-7F14-426F-BC46-19F6A51E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2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1E5106-F1D0-406C-9CB3-057F7D60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Standards make the product easy to buy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C6C284-236D-4695-8C60-0F8CA080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D6876-BE9C-4B0F-BE84-07CB4EDB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0515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Custom gives the premium reason to upload labs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61387-1D30-4F10-85E2-18253CFF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97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BBEDA-124F-4A9C-998F-B2171CC6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338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Population families become repeatable SKUs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894BA-DDBC-4321-B297-58F45709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1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1E682E-7E30-43CF-AB87-BAA66F7B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6245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Formula intelligence supports margin and retention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23D7AD-1BF7-49DE-8533-89964F05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1">
                <a:solidFill>
                  <a:srgbClr val="8A8176"/>
                </a:solidFill>
                <a:latin typeface="Inter"/>
                <a:ea typeface="Inter"/>
                <a:cs typeface="Inter"/>
              </a:defRPr>
            </a:pPr>
            <a:r>
              <a:rPr sz="825" b="0" i="1">
                <a:solidFill>
                  <a:srgbClr val="8A8176"/>
                </a:solidFill>
                <a:latin typeface="Inter"/>
                <a:ea typeface="Inter"/>
                <a:cs typeface="Inter"/>
              </a:rPr>
              <a:t>Pricing and gross-margin targets are planning assumptions for investor discussion.</a:t>
            </a:r>
          </a:p>
        </p:txBody>
      </p:sp>
    </p:spTree>
    <p:extLst>
      <p:ext uri="{BB962C8B-B14F-4D97-AF65-F5344CB8AC3E}">
        <p14:creationId xmlns:p14="http://schemas.microsoft.com/office/powerpoint/2010/main" val="7715219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8c1b250464974"/>
          <a:stretch xmlns:a="http://schemas.openxmlformats.org/drawingml/2006/main"/>
        </p:blipFill>
        <p:spPr>
          <a:xfrm xmlns:a="http://schemas.openxmlformats.org/drawingml/2006/main">
            <a:off x="591723" y="428625"/>
            <a:ext cx="1426404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DF411-1B76-4FA2-A16A-E33ADD5B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 i="0">
                <a:solidFill>
                  <a:srgbClr val="8A8176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8A8176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0B598-F663-4268-9BAA-3AEDBD9B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MOAT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1FB83-D63D-451F-AB98-B598E6F5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572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0" i="0">
                <a:solidFill>
                  <a:srgbClr val="0D1B2A"/>
                </a:solidFill>
                <a:latin typeface="Didot"/>
                <a:ea typeface="Didot"/>
                <a:cs typeface="Didot"/>
              </a:defRPr>
            </a:pPr>
            <a:r>
              <a:rPr sz="3900" b="0" i="0">
                <a:solidFill>
                  <a:srgbClr val="0D1B2A"/>
                </a:solidFill>
                <a:latin typeface="Didot"/>
                <a:ea typeface="Didot"/>
                <a:cs typeface="Didot"/>
              </a:rPr>
              <a:t>The moat is the formulation graph.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0ECB5-DD89-4E9F-A508-1ECC78CB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476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80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The advantage is the graph from biomarker pattern to nutrient vector, formula family, adherence, retest, and measured response.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C28A8-65D1-4632-B14B-B4B15B6A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5476875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2CA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1CF1C-A588-4BA6-B5A1-9E906E70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75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Population map 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3FB0A-1546-44E4-9886-D4A30267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721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NHANES proves the map has structure before Fluids has proprietary response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E4821-06E9-4898-8C86-DF909CF9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14450"/>
            <a:ext cx="4000500" cy="44958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F506E-1E8E-428A-A4F1-873FC8CE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Measured-response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C96C8-7BB7-4EA9-B576-417D1A71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0025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Every customer cycle can sharpen the next recommendation and the next standard blend.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73256-EFC6-47D6-802D-B152A82F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457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D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41044-1EDE-4A30-A573-CBFCDAD4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812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0F985-98B1-4A1C-84D5-16396473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955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NHANES + bloodwork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A9D84-B249-4304-BC60-3AD084CB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Population and individual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C1D70-8480-4735-9B93-9BC3A2EF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384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DD584-D924-453E-956A-9703EE7F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76575"/>
            <a:ext cx="457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6A5282-1EEC-4513-A46E-071FDF7E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813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E70B1-A8E7-47CF-9E57-B4288FF0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956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Nutrient vector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0B43E-5651-46BF-8DDD-EF73E0D5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432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Our model's direction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0B7D5-BE42-4946-AFF8-14F05D62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385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BB5C7-E8BA-4BBB-8DC7-1F33F915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457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5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79E9F-8D8D-4EF0-B3FD-443DA1C6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F67EF7-CF24-470B-BA6E-0CA58C25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95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Blend family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183159-A80E-4AA7-BE28-298E4181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Standard or custom formula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66339-1924-4E6D-8AED-451B062B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38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CA705-C9A5-47AB-8238-AC9F6376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6725"/>
            <a:ext cx="457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39CCE7-2524-4221-80E6-2065A580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F2CAA1-48DB-4F25-AEDF-EE76A75D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957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Adherence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98530D-BF5C-48DA-AC5C-DACB720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4342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Real-world use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BEEB1D-D85A-4726-9C26-E6219F53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386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2224AE-E1AE-4680-91A6-C498AE51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76800"/>
            <a:ext cx="457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9237AF-50D9-4CEC-AE77-3F00084D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815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28858A-167F-4AAF-80EF-C171069D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958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Retest response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1615D0-B934-483E-99BE-07CCA8D0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435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Measured outcome</a:t>
            </a:r>
          </a:p>
        </p:txBody>
      </p:sp>
    </p:spTree>
    <p:extLst>
      <p:ext uri="{BB962C8B-B14F-4D97-AF65-F5344CB8AC3E}">
        <p14:creationId xmlns:p14="http://schemas.microsoft.com/office/powerpoint/2010/main" val="13162346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03a4b655e48f3"/>
          <a:stretch xmlns:a="http://schemas.openxmlformats.org/drawingml/2006/main"/>
        </p:blipFill>
        <p:spPr>
          <a:xfrm xmlns:a="http://schemas.openxmlformats.org/drawingml/2006/main">
            <a:off x="591723" y="428625"/>
            <a:ext cx="1426404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F0A80-6409-4131-B8C6-CF0C5464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 i="0">
                <a:solidFill>
                  <a:srgbClr val="8A8176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8A8176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25CF1-9CCA-4C84-927A-69BD34F6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GO-TO-MARKET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6C231-0CF0-4650-B9D8-0BDA4E50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0" i="0">
                <a:solidFill>
                  <a:srgbClr val="0D1B2A"/>
                </a:solidFill>
                <a:latin typeface="Didot"/>
                <a:ea typeface="Didot"/>
                <a:cs typeface="Didot"/>
              </a:defRPr>
            </a:pPr>
            <a:r>
              <a:rPr sz="4350" b="0" i="0">
                <a:solidFill>
                  <a:srgbClr val="0D1B2A"/>
                </a:solidFill>
                <a:latin typeface="Didot"/>
                <a:ea typeface="Didot"/>
                <a:cs typeface="Didot"/>
              </a:rPr>
              <a:t>Start where the signal already exists.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65481-876B-4F46-BD97-D2949878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85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80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Fluids enters through people and partners already using biomarkers, while the standard menu makes the product simple to explain.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1F807-FB8A-4E69-ACEC-F7249B40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5524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62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3D311-FB79-4E39-87F2-97429FAD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C26E4-89B0-4E1E-9AFF-F53F7C2F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75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Founder-led cohort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ED6A6-2641-46FA-93FA-35E1C3B1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Early believers pick a function blend or upload labs, drink daily, retest, and give feedback.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BF2FF-4D01-4166-9306-479510C7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5524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FE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461A6-B276-4B47-995D-36931E4C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67A65-E271-4C47-B8E8-22EFDC37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75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Biomarker partners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B71E1-AE8B-4C89-94CF-C33A466A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Labs, clinicians, coaches, and wellness platforms become lower-CAC distribution paths.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D828B-48A6-4EB2-94ED-6EAB8E14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5524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FE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721BB-BDCC-4F7C-8604-E1AE7921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52033-8513-446A-A87B-74D4F4BD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75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Replenishment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5B979-9068-4563-8DF5-C892AD04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293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30-day boxes become repeat orders, standard-function cohorts, and personalized formulas.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4d3dbd0704cda"/>
          <a:srcRect xmlns:a="http://schemas.openxmlformats.org/drawingml/2006/main" l="181" t="0" r="1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381125"/>
            <a:ext cx="3143250" cy="394335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</p:spTree>
    <p:extLst>
      <p:ext uri="{BB962C8B-B14F-4D97-AF65-F5344CB8AC3E}">
        <p14:creationId xmlns:p14="http://schemas.microsoft.com/office/powerpoint/2010/main" val="15635605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04309bb5c4a0f"/>
          <a:stretch xmlns:a="http://schemas.openxmlformats.org/drawingml/2006/main"/>
        </p:blipFill>
        <p:spPr>
          <a:xfrm xmlns:a="http://schemas.openxmlformats.org/drawingml/2006/main">
            <a:off x="591723" y="428625"/>
            <a:ext cx="1426404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A1CDB-6146-4A4D-BF9A-667E7C62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 i="0">
                <a:solidFill>
                  <a:srgbClr val="8A8176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8A8176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CCA3E-BD06-42E5-B5F1-1D73B8A5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7D404-6FA5-4855-AC8E-EBD6D2ED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75" b="0" i="0">
                <a:solidFill>
                  <a:srgbClr val="0D1B2A"/>
                </a:solidFill>
                <a:latin typeface="Didot"/>
                <a:ea typeface="Didot"/>
                <a:cs typeface="Didot"/>
              </a:defRPr>
            </a:pPr>
            <a:r>
              <a:rPr sz="4275" b="0" i="0">
                <a:solidFill>
                  <a:srgbClr val="0D1B2A"/>
                </a:solidFill>
                <a:latin typeface="Didot"/>
                <a:ea typeface="Didot"/>
                <a:cs typeface="Didot"/>
              </a:rPr>
              <a:t>The pilot answers adoption, reorder, and signal.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ECE06-7382-4F13-9600-4A43C539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1432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1E1ED-B952-4C3A-94BF-EC56072B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8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Will people use it?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DD62B-42C9-4E34-8FF0-20749DAC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Taste score, daily adherence, ease of routine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A459F-73F6-4D8E-A004-54C6EA35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28950"/>
            <a:ext cx="31432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7DFE5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B16B1-8EF0-480C-837E-D4508C83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8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Will they buy again?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BE0D7-D50B-48C5-BF70-50D11B08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Standard reorder, custom upgrade, subscription interest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E49A6-6837-4355-BB1C-F6758FE5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31432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B61C8-D4B7-456C-91B9-519FB268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8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Is there a measurable signal?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E84CB-A561-4308-A0A9-3404D9AD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Modeled direction, safety review, and biomarker movement after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16251-838D-4144-A516-763BA90F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1033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70D86-BAB3-42FD-9D5D-BB222B56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0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2B4F"/>
          </a:solidFill>
          <a:ln xmlns:a="http://schemas.openxmlformats.org/drawingml/2006/main" w="19050">
            <a:solidFill>
              <a:srgbClr val="C62B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60812-CD50-4884-B7ED-7BE39190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EF37B-8A89-44E0-ADD2-10CD4AC8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5435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44FAE-C994-4BB7-8E29-145CA4F1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blood panel + survey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F61CA-B5E2-4965-A670-EA841DFF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10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4ED"/>
          </a:solidFill>
          <a:ln xmlns:a="http://schemas.openxmlformats.org/drawingml/2006/main" w="19050">
            <a:solidFill>
              <a:srgbClr val="C62B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4731C-0E58-4C6E-AD9F-3B82E98F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054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C62B4F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C62B4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0097B9-9BD4-42C0-9FE0-67E3B55B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5435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Daily 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B1A4A-A86F-4B62-9820-115375FC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10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60-90 days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000636-C2BA-453E-BCB6-06424AB6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10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4ED"/>
          </a:solidFill>
          <a:ln xmlns:a="http://schemas.openxmlformats.org/drawingml/2006/main" w="19050">
            <a:solidFill>
              <a:srgbClr val="C62B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B6422A-0C3B-40C3-B331-303C88A8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054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C62B4F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C62B4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CBEBBE-B430-46FB-8670-AB649512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5435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Retest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B98EAC-71CD-4FF5-A9CA-08877264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10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same biomarkers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444FD9-A56A-4016-895F-5A3FC6C8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10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4ED"/>
          </a:solidFill>
          <a:ln xmlns:a="http://schemas.openxmlformats.org/drawingml/2006/main" w="19050">
            <a:solidFill>
              <a:srgbClr val="C62B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763156-64C3-4EDF-90DA-02A77247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1054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C62B4F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C62B4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4E5E7A-18BF-4EDD-A842-B0133110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5435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Learn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E586AC-C127-48CA-962C-C5835851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85F5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5F55"/>
                </a:solidFill>
                <a:latin typeface="Inter"/>
                <a:ea typeface="Inter"/>
                <a:cs typeface="Inter"/>
              </a:rPr>
              <a:t>response + reorder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AE7C7F-728F-4E49-AF00-800E666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1">
                <a:solidFill>
                  <a:srgbClr val="8A8176"/>
                </a:solidFill>
                <a:latin typeface="Inter"/>
                <a:ea typeface="Inter"/>
                <a:cs typeface="Inter"/>
              </a:defRPr>
            </a:pPr>
            <a:r>
              <a:rPr sz="825" b="0" i="1">
                <a:solidFill>
                  <a:srgbClr val="8A8176"/>
                </a:solidFill>
                <a:latin typeface="Inter"/>
                <a:ea typeface="Inter"/>
                <a:cs typeface="Inter"/>
              </a:rPr>
              <a:t>Study cohort planning case: 25-50 participants, standard-function entry, custom upgrade, adherence and retest tracking.</a:t>
            </a:r>
          </a:p>
        </p:txBody>
      </p:sp>
    </p:spTree>
    <p:extLst>
      <p:ext uri="{BB962C8B-B14F-4D97-AF65-F5344CB8AC3E}">
        <p14:creationId xmlns:p14="http://schemas.microsoft.com/office/powerpoint/2010/main" val="12822988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6d64bf16b4f45"/>
          <a:stretch xmlns:a="http://schemas.openxmlformats.org/drawingml/2006/main"/>
        </p:blipFill>
        <p:spPr>
          <a:xfrm xmlns:a="http://schemas.openxmlformats.org/drawingml/2006/main">
            <a:off x="591723" y="428625"/>
            <a:ext cx="1426404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0D22F-771E-4D9E-89D4-1704923F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 i="0">
                <a:solidFill>
                  <a:srgbClr val="8A8176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8A8176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B115D-8CF1-4CE8-9EC8-D8E04A05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6F43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9D6F43"/>
                </a:solidFill>
                <a:latin typeface="Inter"/>
                <a:ea typeface="Inter"/>
                <a:cs typeface="Inter"/>
              </a:rPr>
              <a:t>RAISE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80DFF-16AE-4E79-B870-A1FF2AC6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47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75" b="0" i="0">
                <a:solidFill>
                  <a:srgbClr val="0D1B2A"/>
                </a:solidFill>
                <a:latin typeface="Didot"/>
                <a:ea typeface="Didot"/>
                <a:cs typeface="Didot"/>
              </a:defRPr>
            </a:pPr>
            <a:r>
              <a:rPr sz="4275" b="0" i="0">
                <a:solidFill>
                  <a:srgbClr val="0D1B2A"/>
                </a:solidFill>
                <a:latin typeface="Didot"/>
                <a:ea typeface="Didot"/>
                <a:cs typeface="Didot"/>
              </a:rPr>
              <a:t>$500K gets Fluids to a seed-ready proof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9B38F-4BFD-4C5C-9112-C0DD4662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800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The round funds the standard-function launch, custom-blend app, measured pilot, partner channel, and operating system needed to turn formulation into a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7C33A-E953-4217-9325-96A1CF85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33500"/>
            <a:ext cx="3524250" cy="40957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A1DED-DD7E-4402-BB30-C02FB67E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57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Use of funds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35CD0-EE79-4DF9-A2B2-796EB33F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479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62B4F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C62B4F"/>
                </a:solidFill>
                <a:latin typeface="Inter"/>
                <a:ea typeface="Inter"/>
                <a:cs typeface="Inter"/>
              </a:rPr>
              <a:t>$150K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C16DB-D99E-4A95-9AC0-A8255AD2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Standard blends, packaging + initial 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A43F3-DD9E-4799-8535-7CA9C032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337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62B4F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C62B4F"/>
                </a:solidFill>
                <a:latin typeface="Inter"/>
                <a:ea typeface="Inter"/>
                <a:cs typeface="Inter"/>
              </a:rPr>
              <a:t>$125K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F3E76-EB3F-43A4-BCC9-79A4CA3F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Biomarker pilot +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16DA0-B5A5-4CC6-A9BB-D965B576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195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62B4F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C62B4F"/>
                </a:solidFill>
                <a:latin typeface="Inter"/>
                <a:ea typeface="Inter"/>
                <a:cs typeface="Inter"/>
              </a:rPr>
              <a:t>$125K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592B3-B72E-4B31-AD14-575F36A5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Team, operations + custom app polish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A4F7C-7A41-40F6-95E1-AEED913E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62B4F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C62B4F"/>
                </a:solidFill>
                <a:latin typeface="Inter"/>
                <a:ea typeface="Inter"/>
                <a:cs typeface="Inter"/>
              </a:rPr>
              <a:t>$100K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078AB-0A0D-4605-BABA-169CE410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Regulatory, QA, partner launch + buffer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689E6-7EF0-4ABE-87B0-CF826C0A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85787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2CA"/>
          </a:solidFill>
          <a:ln xmlns:a="http://schemas.openxmlformats.org/drawingml/2006/main" w="9525">
            <a:solidFill>
              <a:srgbClr val="E2D9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B1930-E753-4737-AD99-E31DE5B6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12-month milestones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58005-8369-467D-9821-5DBF0926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101820"/>
                </a:solidFill>
                <a:latin typeface="Inter"/>
                <a:ea typeface="Inter"/>
                <a:cs typeface="Inter"/>
              </a:rPr>
              <a:t>Eight-blend menu | custom blend demo | 25-50 person pilot | 1-2 platform partners | early reorder signal</a:t>
            </a:r>
          </a:p>
        </p:txBody>
      </p:sp>
    </p:spTree>
    <p:extLst>
      <p:ext uri="{BB962C8B-B14F-4D97-AF65-F5344CB8AC3E}">
        <p14:creationId xmlns:p14="http://schemas.microsoft.com/office/powerpoint/2010/main" val="17939053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4c3c993e049a5"/>
          <a:stretch xmlns:a="http://schemas.openxmlformats.org/drawingml/2006/main"/>
        </p:blipFill>
        <p:spPr>
          <a:xfrm xmlns:a="http://schemas.openxmlformats.org/drawingml/2006/main">
            <a:off x="591723" y="428625"/>
            <a:ext cx="1426404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979B8-7B8D-46E3-8354-7914B010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 i="0">
                <a:solidFill>
                  <a:srgbClr val="A9BEC3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A9BEC3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2B485-5871-4FD2-8EDA-15EB3972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2BE37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F2BE37"/>
                </a:solidFill>
                <a:latin typeface="Inter"/>
                <a:ea typeface="Inter"/>
                <a:cs typeface="Inter"/>
              </a:rPr>
              <a:t>LONG-TERM 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6514E-CC97-4459-9A31-38AA485A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781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0" i="0">
                <a:solidFill>
                  <a:srgbClr val="FFFFFF"/>
                </a:solidFill>
                <a:latin typeface="Didot"/>
                <a:ea typeface="Didot"/>
                <a:cs typeface="Didot"/>
              </a:defRPr>
            </a:pPr>
            <a:r>
              <a:rPr sz="3675" b="0" i="0">
                <a:solidFill>
                  <a:srgbClr val="FFFFFF"/>
                </a:solidFill>
                <a:latin typeface="Didot"/>
                <a:ea typeface="Didot"/>
                <a:cs typeface="Didot"/>
              </a:rPr>
              <a:t>The model discovers the product families.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DAF0D-1B6F-4DA3-BF87-8038AF81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EAF1EF"/>
                </a:solidFill>
                <a:latin typeface="Inter"/>
                <a:ea typeface="Inter"/>
                <a:cs typeface="Inter"/>
              </a:defRPr>
            </a:pPr>
            <a:r>
              <a:rPr sz="1800" b="0" i="0">
                <a:solidFill>
                  <a:srgbClr val="EAF1EF"/>
                </a:solidFill>
                <a:latin typeface="Inter"/>
                <a:ea typeface="Inter"/>
                <a:cs typeface="Inter"/>
              </a:rPr>
              <a:t>NHANES gave Fluids population-scale labs. Our model turned those labs into personalized formulas. The formulas showed us the standard functions, custom lanes, and operating forecasts.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9BAAF-75C5-4209-BD95-D54C2144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DFE5"/>
          </a:solidFill>
          <a:ln xmlns:a="http://schemas.openxmlformats.org/drawingml/2006/main" w="9525">
            <a:solidFill>
              <a:srgbClr val="F7DF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D0832-B2C8-43BA-9A59-B350980E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387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C62B4F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C62B4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2B36B-F7E1-41D8-A283-71247131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D1B2A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D1B2A"/>
                </a:solidFill>
                <a:latin typeface="Inter"/>
                <a:ea typeface="Inter"/>
                <a:cs typeface="Inter"/>
              </a:rPr>
              <a:t>Population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0EB05-7ACE-4056-A30B-F51A1BF2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577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F3C"/>
          </a:solidFill>
          <a:ln xmlns:a="http://schemas.openxmlformats.org/drawingml/2006/main" w="9525">
            <a:solidFill>
              <a:srgbClr val="2544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0889A-6C16-4EE3-892D-727B7DB9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387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2BE37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F2BE3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0994C-24BC-469E-AAAD-2541A2EE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01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Standard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10AF9-2DCD-4356-A09A-E676303C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577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F3C"/>
          </a:solidFill>
          <a:ln xmlns:a="http://schemas.openxmlformats.org/drawingml/2006/main" w="9525">
            <a:solidFill>
              <a:srgbClr val="2544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0BBE0-811F-48B8-ADDC-407FDEAF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387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2BE37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F2BE37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F4D1B-A2EA-4DE0-B023-C70AC2AE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101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Custom blends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9EB20-6C02-4484-86B5-6FDAADE2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577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F3C"/>
          </a:solidFill>
          <a:ln xmlns:a="http://schemas.openxmlformats.org/drawingml/2006/main" w="9525">
            <a:solidFill>
              <a:srgbClr val="2544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D9B2E-FDC0-435B-B062-601C63B2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387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2BE37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F2BE37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33D6E-9CBE-4F75-AAFD-99F3F577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101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Response graph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067d714f4446c"/>
          <a:stretch xmlns:a="http://schemas.openxmlformats.org/drawingml/2006/main"/>
        </p:blipFill>
        <p:spPr>
          <a:xfrm xmlns:a="http://schemas.openxmlformats.org/drawingml/2006/main">
            <a:off x="8667750" y="2102719"/>
            <a:ext cx="2000250" cy="709464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B41A8-69E2-4687-918B-79916A19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1">
                <a:solidFill>
                  <a:srgbClr val="8DA6AA"/>
                </a:solidFill>
                <a:latin typeface="Inter"/>
                <a:ea typeface="Inter"/>
                <a:cs typeface="Inter"/>
              </a:defRPr>
            </a:pPr>
            <a:r>
              <a:rPr sz="825" b="0" i="1">
                <a:solidFill>
                  <a:srgbClr val="8DA6AA"/>
                </a:solidFill>
                <a:latin typeface="Inter"/>
                <a:ea typeface="Inter"/>
                <a:cs typeface="Inter"/>
              </a:rPr>
              <a:t>Main sources: internal NHANES product run, population pitch insights, GWI 2025, McKinsey Future of Wellness 2024, CDC/NCHS Data Brief 561.</a:t>
            </a:r>
          </a:p>
        </p:txBody>
      </p:sp>
    </p:spTree>
    <p:extLst>
      <p:ext uri="{BB962C8B-B14F-4D97-AF65-F5344CB8AC3E}">
        <p14:creationId xmlns:p14="http://schemas.microsoft.com/office/powerpoint/2010/main" val="1141144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2026-07-27T19:25:03.4690000Z</dcterms:created>
  <dcterms:modified xsi:type="dcterms:W3CDTF">2026-07-27T19:25:03.4690000Z</dcterms:modified>
</coreProperties>
</file>